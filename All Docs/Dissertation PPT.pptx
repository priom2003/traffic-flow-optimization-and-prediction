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82" r:id="rId10"/>
    <p:sldId id="283" r:id="rId11"/>
    <p:sldId id="263" r:id="rId12"/>
    <p:sldId id="264" r:id="rId13"/>
    <p:sldId id="267" r:id="rId14"/>
    <p:sldId id="265" r:id="rId15"/>
    <p:sldId id="270" r:id="rId16"/>
    <p:sldId id="272" r:id="rId17"/>
    <p:sldId id="288" r:id="rId18"/>
    <p:sldId id="274" r:id="rId19"/>
    <p:sldId id="266" r:id="rId20"/>
    <p:sldId id="269" r:id="rId21"/>
    <p:sldId id="275" r:id="rId22"/>
    <p:sldId id="284" r:id="rId23"/>
    <p:sldId id="285" r:id="rId24"/>
    <p:sldId id="286" r:id="rId25"/>
    <p:sldId id="287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96" autoAdjust="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AAA70-1BFC-48CE-9E9B-17F36CE1270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DCD01-B84A-452E-B844-8D48A5B3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88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DCD01-B84A-452E-B844-8D48A5B3697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142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065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2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1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6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0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03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10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58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7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17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7087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82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45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99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96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87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957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31292"/>
            <a:ext cx="7707086" cy="1825096"/>
          </a:xfrm>
        </p:spPr>
        <p:txBody>
          <a:bodyPr>
            <a:noAutofit/>
          </a:bodyPr>
          <a:lstStyle/>
          <a:p>
            <a:r>
              <a:rPr lang="en-US" sz="4000" b="1" dirty="0"/>
              <a:t>LLM-Based Predictive Modeling for Traffic Flow Optimization Using Real-Time Social Media Data</a:t>
            </a:r>
            <a:endParaRPr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IN" sz="1800" b="1" dirty="0">
                <a:solidFill>
                  <a:schemeClr val="tx1"/>
                </a:solidFill>
              </a:rPr>
              <a:t>Dissertation I</a:t>
            </a:r>
            <a:endParaRPr sz="1800" b="1" dirty="0">
              <a:solidFill>
                <a:schemeClr val="tx1"/>
              </a:solidFill>
            </a:endParaRPr>
          </a:p>
          <a:p>
            <a:endParaRPr sz="1800" b="1" dirty="0">
              <a:solidFill>
                <a:schemeClr val="tx1"/>
              </a:solidFill>
            </a:endParaRPr>
          </a:p>
          <a:p>
            <a:r>
              <a:rPr sz="1800" b="1" dirty="0">
                <a:solidFill>
                  <a:schemeClr val="tx1"/>
                </a:solidFill>
              </a:rPr>
              <a:t>Priom Dutta</a:t>
            </a:r>
          </a:p>
          <a:p>
            <a:r>
              <a:rPr lang="en-IN" sz="1800" b="1" dirty="0">
                <a:solidFill>
                  <a:schemeClr val="tx1"/>
                </a:solidFill>
              </a:rPr>
              <a:t>Guided by, </a:t>
            </a:r>
            <a:r>
              <a:rPr sz="1800" b="1" dirty="0">
                <a:solidFill>
                  <a:schemeClr val="tx1"/>
                </a:solidFill>
              </a:rPr>
              <a:t>Dr. </a:t>
            </a:r>
            <a:r>
              <a:rPr lang="en-IN" sz="1800" b="1" dirty="0"/>
              <a:t>Tapan Kumar Das</a:t>
            </a:r>
            <a:endParaRPr sz="1800" b="1" dirty="0">
              <a:solidFill>
                <a:schemeClr val="tx1"/>
              </a:solidFill>
            </a:endParaRPr>
          </a:p>
          <a:p>
            <a:r>
              <a:rPr sz="1800" b="1" dirty="0">
                <a:solidFill>
                  <a:schemeClr val="tx1"/>
                </a:solidFill>
              </a:rPr>
              <a:t>SCORE, VIT University — Vellore,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901532"/>
            <a:ext cx="6377940" cy="1293028"/>
          </a:xfrm>
        </p:spPr>
        <p:txBody>
          <a:bodyPr/>
          <a:lstStyle/>
          <a:p>
            <a:pPr algn="ctr"/>
            <a:r>
              <a:rPr dirty="0"/>
              <a:t>P</a:t>
            </a:r>
            <a:r>
              <a:rPr lang="en-IN" dirty="0" err="1"/>
              <a:t>roject</a:t>
            </a:r>
            <a:r>
              <a:rPr lang="en-IN" dirty="0"/>
              <a:t>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948348"/>
            <a:ext cx="7955280" cy="4069080"/>
          </a:xfrm>
        </p:spPr>
        <p:txBody>
          <a:bodyPr/>
          <a:lstStyle/>
          <a:p>
            <a:endParaRPr lang="en-US" dirty="0"/>
          </a:p>
          <a:p>
            <a:r>
              <a:rPr lang="en-US" sz="2000" dirty="0"/>
              <a:t>Real-time traffic congestion prediction using social media (Twitter/X) data.</a:t>
            </a:r>
          </a:p>
          <a:p>
            <a:r>
              <a:rPr lang="en-US" sz="2000" dirty="0"/>
              <a:t>Hybrid approach combining LLM-based semantic embeddings and LSTM predictive modeling.</a:t>
            </a:r>
          </a:p>
          <a:p>
            <a:r>
              <a:rPr lang="en-US" sz="2000" dirty="0"/>
              <a:t>Focus on identifying traffic severity levels: Low, Medium, High.</a:t>
            </a:r>
          </a:p>
          <a:p>
            <a:r>
              <a:rPr lang="en-US" sz="2000" dirty="0"/>
              <a:t>Utilizes ~6000–6500 real-time traffic-related tweets collected via </a:t>
            </a:r>
            <a:r>
              <a:rPr lang="en-US" sz="2000" dirty="0" err="1"/>
              <a:t>RapidAPI</a:t>
            </a:r>
            <a:r>
              <a:rPr lang="en-US" sz="2000" dirty="0"/>
              <a:t>.</a:t>
            </a:r>
          </a:p>
          <a:p>
            <a:r>
              <a:rPr lang="en-US" sz="2000" dirty="0"/>
              <a:t>Provides predictions, delay estimates, and visual insights through an interactive </a:t>
            </a:r>
            <a:r>
              <a:rPr lang="en-US" sz="2000" dirty="0" err="1"/>
              <a:t>Streamlit</a:t>
            </a:r>
            <a:r>
              <a:rPr lang="en-US" sz="2000" dirty="0"/>
              <a:t>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/>
          <a:lstStyle/>
          <a:p>
            <a:pPr algn="ctr"/>
            <a:r>
              <a:rPr lang="en-IN" dirty="0"/>
              <a:t>Problem statement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Traditional traffic monitoring systems rely on sensors and cameras, which are costly and limited in coverage.</a:t>
            </a:r>
          </a:p>
          <a:p>
            <a:r>
              <a:rPr lang="en-US" dirty="0"/>
              <a:t>Social media users frequently report accidents, jams, and road blocks, but this data is unstructured and noisy.</a:t>
            </a:r>
          </a:p>
          <a:p>
            <a:r>
              <a:rPr lang="en-US" dirty="0"/>
              <a:t>Existing models fail to capture the contextual meaning of tweets due to limited semantic understanding.</a:t>
            </a:r>
          </a:p>
          <a:p>
            <a:r>
              <a:rPr lang="en-US" dirty="0"/>
              <a:t>There is a need for a system that can process real-time tweets, understand their context, and accurately predict traffic congestion levels.</a:t>
            </a:r>
          </a:p>
          <a:p>
            <a:r>
              <a:rPr lang="en-US" dirty="0"/>
              <a:t>The challenge lies in integrating LLM embeddings with predictive models to generate reliable, real-time traffic insights.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1" y="764373"/>
            <a:ext cx="7955280" cy="1293028"/>
          </a:xfrm>
        </p:spPr>
        <p:txBody>
          <a:bodyPr/>
          <a:lstStyle/>
          <a:p>
            <a:pPr algn="ctr"/>
            <a:r>
              <a:rPr lang="en-IN" dirty="0"/>
              <a:t>Objectives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Extract meaningful traffic-related information from real-time social media tweets.</a:t>
            </a:r>
          </a:p>
          <a:p>
            <a:r>
              <a:rPr lang="en-US" sz="2000" dirty="0"/>
              <a:t>Generate semantic embeddings using all-MiniLM-L6-v2 for contextual understanding.</a:t>
            </a:r>
          </a:p>
          <a:p>
            <a:r>
              <a:rPr lang="en-US" sz="2000" dirty="0"/>
              <a:t>Cluster tweets into meaningful groups such as </a:t>
            </a:r>
            <a:r>
              <a:rPr lang="en-US" sz="2000" i="1" dirty="0"/>
              <a:t>low</a:t>
            </a:r>
            <a:r>
              <a:rPr lang="en-US" sz="2000" dirty="0"/>
              <a:t>, </a:t>
            </a:r>
            <a:r>
              <a:rPr lang="en-US" sz="2000" i="1" dirty="0"/>
              <a:t>medium</a:t>
            </a:r>
            <a:r>
              <a:rPr lang="en-US" sz="2000" dirty="0"/>
              <a:t>, and </a:t>
            </a:r>
            <a:r>
              <a:rPr lang="en-US" sz="2000" i="1" dirty="0"/>
              <a:t>high congestion</a:t>
            </a:r>
            <a:r>
              <a:rPr lang="en-US" sz="2000" dirty="0"/>
              <a:t>.</a:t>
            </a:r>
          </a:p>
          <a:p>
            <a:r>
              <a:rPr lang="en-US" sz="2000" dirty="0"/>
              <a:t>Build a Hybrid LLM + LSTM model to predict traffic congestion levels accurately.</a:t>
            </a:r>
          </a:p>
          <a:p>
            <a:r>
              <a:rPr lang="en-US" sz="2000" dirty="0"/>
              <a:t>Estimate approximate traffic delay for end-users based on prediction output.</a:t>
            </a:r>
          </a:p>
          <a:p>
            <a:r>
              <a:rPr lang="en-US" sz="2000" dirty="0"/>
              <a:t>Visualize predictions and congestion hotspots through an interactive </a:t>
            </a:r>
            <a:r>
              <a:rPr lang="en-US" sz="2000" dirty="0" err="1"/>
              <a:t>Streamlit</a:t>
            </a:r>
            <a:r>
              <a:rPr lang="en-US" sz="2000" dirty="0"/>
              <a:t> dashboard.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64373"/>
            <a:ext cx="7744968" cy="1293028"/>
          </a:xfrm>
        </p:spPr>
        <p:txBody>
          <a:bodyPr/>
          <a:lstStyle/>
          <a:p>
            <a:pPr algn="ctr"/>
            <a:r>
              <a:rPr lang="en-IN" dirty="0"/>
              <a:t>Motivation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Growing reliance on social media platforms for instant reporting of accidents, roadblocks, and traffic jams.</a:t>
            </a:r>
          </a:p>
          <a:p>
            <a:r>
              <a:rPr lang="en-US" sz="2000" dirty="0"/>
              <a:t>Traditional traffic systems lack real-time coverage, especially in rapidly developing urban areas.</a:t>
            </a:r>
          </a:p>
          <a:p>
            <a:r>
              <a:rPr lang="en-US" sz="2000" dirty="0"/>
              <a:t>Social media provides rich, crowd-sourced, real-time data that can improve traffic awareness.</a:t>
            </a:r>
          </a:p>
          <a:p>
            <a:r>
              <a:rPr lang="en-US" sz="2000" dirty="0"/>
              <a:t>LLMs enable deeper semantic understanding of tweets beyond simple keyword matching.</a:t>
            </a:r>
          </a:p>
          <a:p>
            <a:r>
              <a:rPr lang="en-US" sz="2000" dirty="0"/>
              <a:t>A predictive traffic model can aid commuters, authorities, and smart city planners in decision-making and route optimization.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/>
          <a:lstStyle/>
          <a:p>
            <a:pPr algn="ctr"/>
            <a:r>
              <a:rPr lang="en-IN" dirty="0"/>
              <a:t>Related works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 of Large Language Models (LLMs) for explainable traffic flow prediction, demonstrating the value of semantic understanding in traffic-related text</a:t>
            </a:r>
          </a:p>
          <a:p>
            <a:r>
              <a:rPr lang="en-US" dirty="0"/>
              <a:t>Application of Machine Learning algorithms such as Random Forest, SVM, and k-NN for traffic flow estimation in smart traffic systems.</a:t>
            </a:r>
          </a:p>
          <a:p>
            <a:r>
              <a:rPr lang="en-US" dirty="0"/>
              <a:t>Adoption of Big Data analytics and Deep Learning models, including neural networks and statistical forecasting methods, for intelligent transportation systems.</a:t>
            </a:r>
          </a:p>
          <a:p>
            <a:r>
              <a:rPr lang="en-US" dirty="0"/>
              <a:t>Use of LSTM and CNN-LSTM hybrid networks to analyze real-time social media text for traffic prediction tasks.</a:t>
            </a:r>
          </a:p>
          <a:p>
            <a:r>
              <a:rPr lang="en-US" dirty="0"/>
              <a:t>Implementation of Convolutional Neural Networks (CNNs) on time–space traffic diagrams to model vehicle movement and predict congestion patterns.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F71A68-AE04-FADE-5161-5B4B4D6DD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947253"/>
            <a:ext cx="7955280" cy="893739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Proposed system overview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8F4D53-C7C8-880B-8E92-3C4E1C16CC41}"/>
              </a:ext>
            </a:extLst>
          </p:cNvPr>
          <p:cNvSpPr txBox="1">
            <a:spLocks/>
          </p:cNvSpPr>
          <p:nvPr/>
        </p:nvSpPr>
        <p:spPr>
          <a:xfrm>
            <a:off x="594360" y="2170176"/>
            <a:ext cx="7955280" cy="406908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System processes real-time tweets to extract traffic-related insights using LLM-based semantic embeddings.</a:t>
            </a:r>
          </a:p>
          <a:p>
            <a:r>
              <a:rPr lang="en-US" sz="2000" dirty="0"/>
              <a:t>Embeddings combined with structured features (time, sentiment, location) to form a comprehensive feature set.</a:t>
            </a:r>
          </a:p>
          <a:p>
            <a:r>
              <a:rPr lang="en-US" sz="2000" dirty="0"/>
              <a:t>Clustering (HDBSCAN, K-Means) used to group tweets into Low, Medium, and High congestion categories.</a:t>
            </a:r>
          </a:p>
          <a:p>
            <a:r>
              <a:rPr lang="en-US" sz="2000" dirty="0"/>
              <a:t>A Hybrid LLM + LSTM model predicts traffic congestion level from processed features.</a:t>
            </a:r>
          </a:p>
          <a:p>
            <a:r>
              <a:rPr lang="en-US" sz="2000" dirty="0"/>
              <a:t>An interactive </a:t>
            </a:r>
            <a:r>
              <a:rPr lang="en-US" sz="2000" dirty="0" err="1"/>
              <a:t>Streamlit</a:t>
            </a:r>
            <a:r>
              <a:rPr lang="en-US" sz="2000" dirty="0"/>
              <a:t> dashboard displays congestion prediction, delay estimation, and map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2707142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" y="2073401"/>
            <a:ext cx="3864864" cy="2711198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System architecture</a:t>
            </a:r>
            <a:endParaRPr dirty="0"/>
          </a:p>
        </p:txBody>
      </p:sp>
      <p:pic>
        <p:nvPicPr>
          <p:cNvPr id="8" name="Picture 7" descr="A screenshot of a diagram&#10;&#10;AI-generated content may be incorrect.">
            <a:extLst>
              <a:ext uri="{FF2B5EF4-FFF2-40B4-BE49-F238E27FC236}">
                <a16:creationId xmlns:a16="http://schemas.microsoft.com/office/drawing/2014/main" id="{8AA92381-CA68-8D63-4531-48AEAF4F0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89120" y="423672"/>
            <a:ext cx="4352544" cy="62270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F87A-1775-9D7F-9F43-A3CF021A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D23B-1356-E027-1686-C8AA80723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" y="2073401"/>
            <a:ext cx="3284219" cy="2711198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Use-case diagram</a:t>
            </a:r>
            <a:endParaRPr dirty="0"/>
          </a:p>
        </p:txBody>
      </p:sp>
      <p:pic>
        <p:nvPicPr>
          <p:cNvPr id="3" name="Picture 2" descr="A diagram of a traffic flow&#10;&#10;AI-generated content may be incorrect.">
            <a:extLst>
              <a:ext uri="{FF2B5EF4-FFF2-40B4-BE49-F238E27FC236}">
                <a16:creationId xmlns:a16="http://schemas.microsoft.com/office/drawing/2014/main" id="{F559F551-753D-4CB4-4C34-10E1214C8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755" y="685229"/>
            <a:ext cx="5455930" cy="558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45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44F0F-203D-D167-F633-65344B381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E742-440F-28BD-780D-547E8778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" y="2073401"/>
            <a:ext cx="3563111" cy="2711198"/>
          </a:xfrm>
        </p:spPr>
        <p:txBody>
          <a:bodyPr>
            <a:normAutofit/>
          </a:bodyPr>
          <a:lstStyle/>
          <a:p>
            <a:pPr algn="ctr"/>
            <a:r>
              <a:rPr lang="en-IN" dirty="0" err="1"/>
              <a:t>Uml</a:t>
            </a:r>
            <a:r>
              <a:rPr lang="en-IN" dirty="0"/>
              <a:t> class diagram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57FCEF-A9EF-EA12-9BC5-041B31829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647" y="547370"/>
            <a:ext cx="5194235" cy="58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54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/>
          <a:lstStyle/>
          <a:p>
            <a:pPr algn="ctr"/>
            <a:r>
              <a:rPr lang="en-IN" dirty="0"/>
              <a:t>Dataset description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Collected 6000–6500 real-time traffic-related tweets using </a:t>
            </a:r>
            <a:r>
              <a:rPr lang="en-US" sz="2000" dirty="0" err="1"/>
              <a:t>RapidAPI</a:t>
            </a:r>
            <a:r>
              <a:rPr lang="en-US" sz="2000" dirty="0"/>
              <a:t> (Twitter/X).</a:t>
            </a:r>
          </a:p>
          <a:p>
            <a:r>
              <a:rPr lang="en-US" sz="2000" dirty="0"/>
              <a:t>Dataset includes fields such as: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 err="1"/>
              <a:t>tweet_id</a:t>
            </a:r>
            <a:endParaRPr lang="en-US" sz="2000" dirty="0"/>
          </a:p>
          <a:p>
            <a:pPr marL="514350" indent="-514350">
              <a:buFont typeface="+mj-lt"/>
              <a:buAutoNum type="romanLcPeriod"/>
            </a:pPr>
            <a:r>
              <a:rPr lang="en-US" sz="2000" dirty="0" err="1"/>
              <a:t>raw_text_tweet</a:t>
            </a:r>
            <a:endParaRPr lang="en-US" sz="2000" dirty="0"/>
          </a:p>
          <a:p>
            <a:pPr marL="514350" indent="-514350">
              <a:buFont typeface="+mj-lt"/>
              <a:buAutoNum type="romanLcPeriod"/>
            </a:pPr>
            <a:r>
              <a:rPr lang="en-US" sz="2000" dirty="0" err="1"/>
              <a:t>created_at</a:t>
            </a:r>
            <a:endParaRPr lang="en-US" sz="2000" dirty="0"/>
          </a:p>
          <a:p>
            <a:pPr marL="514350" indent="-514350">
              <a:buFont typeface="+mj-lt"/>
              <a:buAutoNum type="romanLcPeriod"/>
            </a:pPr>
            <a:r>
              <a:rPr lang="en-US" sz="2000" dirty="0" err="1"/>
              <a:t>user_location</a:t>
            </a:r>
            <a:endParaRPr lang="en-US" sz="2000" dirty="0"/>
          </a:p>
          <a:p>
            <a:pPr marL="514350" indent="-514350">
              <a:buFont typeface="+mj-lt"/>
              <a:buAutoNum type="romanLcPeriod"/>
            </a:pPr>
            <a:r>
              <a:rPr lang="en-US" sz="2000" dirty="0" err="1"/>
              <a:t>retweet_count</a:t>
            </a:r>
            <a:r>
              <a:rPr lang="en-US" sz="2000" dirty="0"/>
              <a:t>, </a:t>
            </a:r>
            <a:r>
              <a:rPr lang="en-US" sz="2000" dirty="0" err="1"/>
              <a:t>like_count</a:t>
            </a:r>
            <a:endParaRPr lang="en-US" sz="2000" dirty="0"/>
          </a:p>
          <a:p>
            <a:r>
              <a:rPr lang="en-US" sz="2000" dirty="0"/>
              <a:t>Tweets cover diverse conditions: accidents, roadblocks, jams, and smooth traffic.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/>
          <a:lstStyle/>
          <a:p>
            <a:pPr algn="ctr"/>
            <a:r>
              <a:rPr lang="en-IN" dirty="0"/>
              <a:t>Dataset preprocessing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Preprocessing steps: removed hashtags/mentions/URLs, filtered English-language tweets, inferred location/geotag.</a:t>
            </a:r>
          </a:p>
          <a:p>
            <a:r>
              <a:rPr lang="en-US" sz="2000" dirty="0"/>
              <a:t>Generated structured features: sentiment score, timestamp components (hour/day/weekday/month), location (latitude/longitude).</a:t>
            </a:r>
          </a:p>
          <a:p>
            <a:r>
              <a:rPr lang="en-US" sz="2000" dirty="0"/>
              <a:t>Embeddings generated using </a:t>
            </a:r>
            <a:r>
              <a:rPr lang="en-US" sz="2000" b="1" dirty="0"/>
              <a:t>all-MiniLM-L6-v2</a:t>
            </a:r>
            <a:r>
              <a:rPr lang="en-US" sz="2000" dirty="0"/>
              <a:t> to convert raw text into 384-dimensional vectors.</a:t>
            </a:r>
            <a:endParaRPr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238" y="594360"/>
            <a:ext cx="7058361" cy="1293028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Embedding generation</a:t>
            </a:r>
            <a:endParaRPr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C8451-DB15-567D-2654-483D8241191C}"/>
              </a:ext>
            </a:extLst>
          </p:cNvPr>
          <p:cNvSpPr txBox="1">
            <a:spLocks/>
          </p:cNvSpPr>
          <p:nvPr/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Used all-MiniLM-L6-v2 from </a:t>
            </a:r>
            <a:r>
              <a:rPr lang="en-US" sz="2000" dirty="0" err="1"/>
              <a:t>SentenceTransformers</a:t>
            </a:r>
            <a:r>
              <a:rPr lang="en-US" sz="2000" dirty="0"/>
              <a:t> for semantic text embedding.</a:t>
            </a:r>
          </a:p>
          <a:p>
            <a:r>
              <a:rPr lang="en-US" sz="2000" dirty="0"/>
              <a:t>Converts raw tweets into 384-dimensional vector representations capturing context and meaning.</a:t>
            </a:r>
          </a:p>
          <a:p>
            <a:r>
              <a:rPr lang="en-US" sz="2000" dirty="0"/>
              <a:t>Handles informal language, abbreviations, and noisy tweet text better than traditional NLP methods.</a:t>
            </a:r>
          </a:p>
          <a:p>
            <a:r>
              <a:rPr lang="en-US" sz="2000" dirty="0"/>
              <a:t>Generated embeddings serve as the base feature set for clustering and model training.</a:t>
            </a:r>
          </a:p>
          <a:p>
            <a:r>
              <a:rPr lang="en-US" sz="2000" dirty="0"/>
              <a:t>Enables distinction between similar phrases, e.g., “road blocked” vs. “heavy jam” vs. “accident occurred”.</a:t>
            </a:r>
          </a:p>
        </p:txBody>
      </p:sp>
    </p:spTree>
    <p:extLst>
      <p:ext uri="{BB962C8B-B14F-4D97-AF65-F5344CB8AC3E}">
        <p14:creationId xmlns:p14="http://schemas.microsoft.com/office/powerpoint/2010/main" val="3696394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/>
          <a:lstStyle/>
          <a:p>
            <a:pPr algn="ctr"/>
            <a:r>
              <a:rPr lang="en-IN" dirty="0"/>
              <a:t>Clustering(hdbscan &amp; Kmeans)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316480"/>
            <a:ext cx="7955280" cy="4069080"/>
          </a:xfrm>
        </p:spPr>
        <p:txBody>
          <a:bodyPr>
            <a:normAutofit/>
          </a:bodyPr>
          <a:lstStyle/>
          <a:p>
            <a:r>
              <a:rPr lang="en-US" sz="2000" dirty="0"/>
              <a:t>HDBSCAN used for density-based clustering to identify natural tweet groupings without fixing the number of clusters.</a:t>
            </a:r>
          </a:p>
          <a:p>
            <a:r>
              <a:rPr lang="en-US" sz="2000" dirty="0"/>
              <a:t>Effectively separates dense semantic regions and labels outliers as noise.</a:t>
            </a:r>
          </a:p>
          <a:p>
            <a:r>
              <a:rPr lang="en-US" sz="2000" dirty="0"/>
              <a:t>K-Means applied with k=3 to partition tweets into Low, Medium, and High congestion groups.</a:t>
            </a:r>
          </a:p>
          <a:p>
            <a:r>
              <a:rPr lang="en-US" sz="2000" dirty="0"/>
              <a:t>Helps validate embedding quality by visualizing tweet distribution in reduced-dimensional space.</a:t>
            </a:r>
          </a:p>
          <a:p>
            <a:r>
              <a:rPr lang="en-US" sz="2000" dirty="0"/>
              <a:t>Provides cluster labels that support downstream prediction and model training.</a:t>
            </a:r>
            <a:endParaRPr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4FB8-5C30-6356-9B66-5F72BFE3F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174" y="764373"/>
            <a:ext cx="7687651" cy="1293028"/>
          </a:xfrm>
        </p:spPr>
        <p:txBody>
          <a:bodyPr/>
          <a:lstStyle/>
          <a:p>
            <a:pPr algn="ctr"/>
            <a:r>
              <a:rPr lang="en-IN" dirty="0"/>
              <a:t>Clustering visualizations</a:t>
            </a:r>
          </a:p>
        </p:txBody>
      </p:sp>
      <p:pic>
        <p:nvPicPr>
          <p:cNvPr id="3" name="Picture 2" descr="A screen shot of a diagram&#10;&#10;AI-generated content may be incorrect.">
            <a:extLst>
              <a:ext uri="{FF2B5EF4-FFF2-40B4-BE49-F238E27FC236}">
                <a16:creationId xmlns:a16="http://schemas.microsoft.com/office/drawing/2014/main" id="{B9C7DD14-97E4-B7FA-4D3D-082A48B53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34" y="2153285"/>
            <a:ext cx="4092702" cy="32990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diagram of a number of dots&#10;&#10;AI-generated content may be incorrect.">
            <a:extLst>
              <a:ext uri="{FF2B5EF4-FFF2-40B4-BE49-F238E27FC236}">
                <a16:creationId xmlns:a16="http://schemas.microsoft.com/office/drawing/2014/main" id="{83E44FA6-1CD0-67A0-FEF9-F81CB5395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153285"/>
            <a:ext cx="4233570" cy="32990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8824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0BD2-6026-2FE6-4EE9-082D2F2F7A41}"/>
              </a:ext>
            </a:extLst>
          </p:cNvPr>
          <p:cNvSpPr txBox="1">
            <a:spLocks/>
          </p:cNvSpPr>
          <p:nvPr/>
        </p:nvSpPr>
        <p:spPr>
          <a:xfrm>
            <a:off x="728174" y="996021"/>
            <a:ext cx="7687651" cy="930315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/>
              <a:t>Feature Engineering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08720A-2D87-814C-73D6-ADFF9CB1FC70}"/>
              </a:ext>
            </a:extLst>
          </p:cNvPr>
          <p:cNvSpPr txBox="1">
            <a:spLocks/>
          </p:cNvSpPr>
          <p:nvPr/>
        </p:nvSpPr>
        <p:spPr>
          <a:xfrm>
            <a:off x="594360" y="1816608"/>
            <a:ext cx="7955280" cy="4568952"/>
          </a:xfrm>
          <a:prstGeom prst="rect">
            <a:avLst/>
          </a:prstGeom>
        </p:spPr>
        <p:txBody>
          <a:bodyPr numCol="2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000" b="1" dirty="0"/>
              <a:t>LLM Embeddings (MiniLM-L6-v2):</a:t>
            </a:r>
            <a:br>
              <a:rPr lang="en-US" sz="2000" dirty="0"/>
            </a:br>
            <a:r>
              <a:rPr lang="en-US" sz="2000" dirty="0"/>
              <a:t>Each tweet converted into a dense 384-dimensional semantic vector capturing context, intent, and traffic-related meaning.</a:t>
            </a:r>
          </a:p>
          <a:p>
            <a:pPr>
              <a:lnSpc>
                <a:spcPct val="120000"/>
              </a:lnSpc>
            </a:pPr>
            <a:r>
              <a:rPr lang="en-US" sz="2000" b="1" dirty="0"/>
              <a:t>Structured Features Added:</a:t>
            </a:r>
            <a:br>
              <a:rPr lang="en-US" sz="2000" dirty="0"/>
            </a:br>
            <a:r>
              <a:rPr lang="en-US" sz="2000" dirty="0"/>
              <a:t>Extracted auxiliary information to enhance prediction accuracy, such as:</a:t>
            </a:r>
          </a:p>
          <a:p>
            <a:pPr marL="514350" indent="-514350">
              <a:lnSpc>
                <a:spcPct val="120000"/>
              </a:lnSpc>
              <a:buFont typeface="+mj-lt"/>
              <a:buAutoNum type="romanLcPeriod"/>
            </a:pPr>
            <a:r>
              <a:rPr lang="en-US" sz="2000" dirty="0"/>
              <a:t>Tweet sentiment and polarity</a:t>
            </a:r>
          </a:p>
          <a:p>
            <a:pPr marL="514350" indent="-514350">
              <a:lnSpc>
                <a:spcPct val="120000"/>
              </a:lnSpc>
              <a:buFont typeface="+mj-lt"/>
              <a:buAutoNum type="romanLcPeriod"/>
            </a:pPr>
            <a:r>
              <a:rPr lang="en-US" sz="2000" dirty="0"/>
              <a:t>Latitude &amp; longitude (geotag approximation)</a:t>
            </a:r>
          </a:p>
          <a:p>
            <a:pPr marL="514350" indent="-514350">
              <a:lnSpc>
                <a:spcPct val="120000"/>
              </a:lnSpc>
              <a:buFont typeface="+mj-lt"/>
              <a:buAutoNum type="romanLcPeriod"/>
            </a:pPr>
            <a:r>
              <a:rPr lang="en-US" sz="2000" dirty="0"/>
              <a:t>Time features (hour, day, weekday, month)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Keyword indicators (e.g., crash, jam, blocked)</a:t>
            </a:r>
          </a:p>
          <a:p>
            <a:pPr>
              <a:lnSpc>
                <a:spcPct val="120000"/>
              </a:lnSpc>
            </a:pPr>
            <a:r>
              <a:rPr lang="en-US" sz="2000" b="1" dirty="0"/>
              <a:t>Combined Feature Matrix:</a:t>
            </a:r>
            <a:br>
              <a:rPr lang="en-US" sz="2000" dirty="0"/>
            </a:br>
            <a:r>
              <a:rPr lang="en-US" sz="2000" dirty="0"/>
              <a:t>Merged </a:t>
            </a:r>
            <a:r>
              <a:rPr lang="en-US" sz="2000" b="1" dirty="0"/>
              <a:t>embeddings + structured features</a:t>
            </a:r>
            <a:r>
              <a:rPr lang="en-US" sz="2000" dirty="0"/>
              <a:t> into a unified input vector aligned with the LSTM model shape.</a:t>
            </a:r>
          </a:p>
          <a:p>
            <a:pPr>
              <a:lnSpc>
                <a:spcPct val="120000"/>
              </a:lnSpc>
            </a:pPr>
            <a:r>
              <a:rPr lang="en-US" sz="2000" b="1" dirty="0"/>
              <a:t>Final Input Shape for Hybrid Model:</a:t>
            </a:r>
            <a:br>
              <a:rPr lang="en-US" sz="2000" dirty="0"/>
            </a:br>
            <a:r>
              <a:rPr lang="en-US" sz="2000" dirty="0"/>
              <a:t>Standardized to match LSTM’s expected 392-dimensional input.</a:t>
            </a:r>
          </a:p>
          <a:p>
            <a:pPr>
              <a:lnSpc>
                <a:spcPct val="120000"/>
              </a:lnSpc>
            </a:pPr>
            <a:r>
              <a:rPr lang="en-US" sz="2000" b="1" dirty="0"/>
              <a:t>Purpose:</a:t>
            </a:r>
            <a:br>
              <a:rPr lang="en-US" sz="2000" dirty="0"/>
            </a:br>
            <a:r>
              <a:rPr lang="en-US" sz="2000" dirty="0"/>
              <a:t>Ensures the model learns from both semantic understanding (LLM) and contextual traffic factors to improve prediction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741750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CF64C-F812-8DC9-B2D7-36A25275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56290-CEC6-4364-0662-CE77536E3616}"/>
              </a:ext>
            </a:extLst>
          </p:cNvPr>
          <p:cNvSpPr txBox="1">
            <a:spLocks/>
          </p:cNvSpPr>
          <p:nvPr/>
        </p:nvSpPr>
        <p:spPr>
          <a:xfrm>
            <a:off x="728174" y="733586"/>
            <a:ext cx="7955280" cy="524869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/>
              <a:t>RF &amp; </a:t>
            </a:r>
            <a:r>
              <a:rPr lang="en-IN" dirty="0" err="1"/>
              <a:t>XGBoost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1968E7-C37A-5981-0022-7206853C205B}"/>
              </a:ext>
            </a:extLst>
          </p:cNvPr>
          <p:cNvSpPr txBox="1">
            <a:spLocks/>
          </p:cNvSpPr>
          <p:nvPr/>
        </p:nvSpPr>
        <p:spPr>
          <a:xfrm>
            <a:off x="728174" y="1434053"/>
            <a:ext cx="7955280" cy="4568952"/>
          </a:xfrm>
          <a:prstGeom prst="rect">
            <a:avLst/>
          </a:prstGeom>
        </p:spPr>
        <p:txBody>
          <a:bodyPr numCol="2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Random Forest (RF)</a:t>
            </a:r>
          </a:p>
          <a:p>
            <a:r>
              <a:rPr lang="en-US" sz="1600" dirty="0"/>
              <a:t>Accuracy: ~100%</a:t>
            </a:r>
          </a:p>
          <a:p>
            <a:r>
              <a:rPr lang="en-US" sz="1600" dirty="0"/>
              <a:t>Comments: Learned embeddings very quickly; tends to overfit.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Confusion Matrix: </a:t>
            </a:r>
          </a:p>
          <a:p>
            <a:pPr>
              <a:lnSpc>
                <a:spcPct val="120000"/>
              </a:lnSpc>
            </a:pPr>
            <a:endParaRPr lang="en-US" sz="1600" dirty="0"/>
          </a:p>
          <a:p>
            <a:pPr>
              <a:lnSpc>
                <a:spcPct val="120000"/>
              </a:lnSpc>
            </a:pPr>
            <a:endParaRPr lang="en-US" sz="1600" dirty="0"/>
          </a:p>
          <a:p>
            <a:pPr>
              <a:lnSpc>
                <a:spcPct val="120000"/>
              </a:lnSpc>
            </a:pPr>
            <a:endParaRPr lang="en-US" sz="1600" dirty="0"/>
          </a:p>
          <a:p>
            <a:pPr>
              <a:lnSpc>
                <a:spcPct val="120000"/>
              </a:lnSpc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XGBoost</a:t>
            </a:r>
            <a:endParaRPr lang="en-US" sz="1600" dirty="0"/>
          </a:p>
          <a:p>
            <a:r>
              <a:rPr lang="en-US" sz="1600" dirty="0"/>
              <a:t>Accuracy: ~100%</a:t>
            </a:r>
          </a:p>
          <a:p>
            <a:r>
              <a:rPr lang="en-US" sz="1600" dirty="0"/>
              <a:t>Comments: Strong structured feature learner; stable performance.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Confusion Matrix: </a:t>
            </a:r>
          </a:p>
          <a:p>
            <a:pPr>
              <a:lnSpc>
                <a:spcPct val="120000"/>
              </a:lnSpc>
            </a:pPr>
            <a:endParaRPr lang="en-US" sz="2000" dirty="0"/>
          </a:p>
          <a:p>
            <a:pPr>
              <a:lnSpc>
                <a:spcPct val="120000"/>
              </a:lnSpc>
            </a:pP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endParaRPr lang="en-US" sz="2000" dirty="0"/>
          </a:p>
          <a:p>
            <a:pPr>
              <a:lnSpc>
                <a:spcPct val="120000"/>
              </a:lnSpc>
            </a:pPr>
            <a:endParaRPr lang="en-US" sz="2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D9C26F1-FE40-B939-6FC6-9C5EBE1ED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661" y="3116424"/>
            <a:ext cx="2811563" cy="237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452BFB9-95DB-7BE2-E154-271A53632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782" y="3116424"/>
            <a:ext cx="2954287" cy="2493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E84368-24F8-1CD9-9E34-8475990FE68B}"/>
              </a:ext>
            </a:extLst>
          </p:cNvPr>
          <p:cNvSpPr txBox="1"/>
          <p:nvPr/>
        </p:nvSpPr>
        <p:spPr>
          <a:xfrm>
            <a:off x="728174" y="5750004"/>
            <a:ext cx="7809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RF and </a:t>
            </a:r>
            <a:r>
              <a:rPr lang="en-US" sz="1600" dirty="0" err="1"/>
              <a:t>XGBoost</a:t>
            </a:r>
            <a:r>
              <a:rPr lang="en-US" sz="1600" dirty="0"/>
              <a:t> performed extremely well on embedding-based features, but lacked temporal modeling capability — motivating the final choice of a hybrid LLM + LSTM architecture.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38960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C1236-0956-7C22-1B83-CF563F14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BEF8B-3C73-F9B8-E185-8B8A92E5027B}"/>
              </a:ext>
            </a:extLst>
          </p:cNvPr>
          <p:cNvSpPr txBox="1">
            <a:spLocks/>
          </p:cNvSpPr>
          <p:nvPr/>
        </p:nvSpPr>
        <p:spPr>
          <a:xfrm>
            <a:off x="728174" y="882570"/>
            <a:ext cx="7687651" cy="930315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dirty="0"/>
              <a:t>Hybrid modelling pipeline overview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F563FA-2E00-B16A-119F-4060FEBE4682}"/>
              </a:ext>
            </a:extLst>
          </p:cNvPr>
          <p:cNvSpPr txBox="1">
            <a:spLocks/>
          </p:cNvSpPr>
          <p:nvPr/>
        </p:nvSpPr>
        <p:spPr>
          <a:xfrm>
            <a:off x="594360" y="1816608"/>
            <a:ext cx="7955280" cy="4568952"/>
          </a:xfrm>
          <a:prstGeom prst="rect">
            <a:avLst/>
          </a:prstGeom>
        </p:spPr>
        <p:txBody>
          <a:bodyPr numCol="1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800" dirty="0"/>
              <a:t>Combines LLM embeddings (MiniLM-L6-v2) with LSTM-based sequence modeling for traffic congestion prediction.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The embedding model converts tweets into dense semantic vectors that preserve meaning, sentiment, and context.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Structured metadata features (sentiment score, time, geolocation approximations) are merged with embeddings.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The unified feature vector is passed into an LSTM network to learn temporal and contextual patterns.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Output layer predicts Low, Medium, or High congestion levels with probability scores.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Hybrid pipeline improves robustness over standalone ML models by using both semantic and contextual signals.</a:t>
            </a:r>
          </a:p>
        </p:txBody>
      </p:sp>
    </p:spTree>
    <p:extLst>
      <p:ext uri="{BB962C8B-B14F-4D97-AF65-F5344CB8AC3E}">
        <p14:creationId xmlns:p14="http://schemas.microsoft.com/office/powerpoint/2010/main" val="3207803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764373"/>
            <a:ext cx="6377940" cy="1293028"/>
          </a:xfrm>
        </p:spPr>
        <p:txBody>
          <a:bodyPr/>
          <a:lstStyle/>
          <a:p>
            <a:pPr algn="ctr"/>
            <a:r>
              <a:rPr lang="en-IN" dirty="0"/>
              <a:t>Model training &amp; evaluation step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r>
              <a:rPr lang="en-US" sz="1800" b="1" dirty="0"/>
              <a:t>Train–Test Split:</a:t>
            </a:r>
            <a:br>
              <a:rPr lang="en-US" sz="1800" dirty="0"/>
            </a:br>
            <a:r>
              <a:rPr lang="en-US" sz="1800" dirty="0"/>
              <a:t>Dataset divided into training and testing sets to ensure unbiased performance evaluation.</a:t>
            </a:r>
          </a:p>
          <a:p>
            <a:r>
              <a:rPr lang="en-US" sz="1800" b="1" dirty="0"/>
              <a:t>Model Inputs:</a:t>
            </a:r>
            <a:endParaRPr lang="en-US" sz="1800" dirty="0"/>
          </a:p>
          <a:p>
            <a:pPr marL="514350" indent="-514350">
              <a:buFont typeface="+mj-lt"/>
              <a:buAutoNum type="romanLcPeriod"/>
            </a:pPr>
            <a:r>
              <a:rPr lang="en-US" sz="1800" dirty="0"/>
              <a:t>384-dimensional </a:t>
            </a:r>
            <a:r>
              <a:rPr lang="en-US" sz="1800" dirty="0" err="1"/>
              <a:t>MiniLM</a:t>
            </a:r>
            <a:r>
              <a:rPr lang="en-US" sz="1800" dirty="0"/>
              <a:t> embeddings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1800" dirty="0"/>
              <a:t>8 structured traffic-related features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1800" dirty="0"/>
              <a:t>Combined into a unified 392-dimensional vector for the LSTM model</a:t>
            </a:r>
          </a:p>
          <a:p>
            <a:r>
              <a:rPr lang="en-US" sz="1800" b="1" dirty="0"/>
              <a:t>Training Configuration:</a:t>
            </a:r>
            <a:endParaRPr lang="en-US" sz="1800" dirty="0"/>
          </a:p>
          <a:p>
            <a:pPr marL="400050" indent="-400050">
              <a:buFont typeface="+mj-lt"/>
              <a:buAutoNum type="romanLcPeriod"/>
            </a:pPr>
            <a:r>
              <a:rPr lang="en-US" sz="1800" dirty="0"/>
              <a:t>Optimizer: Adam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800" dirty="0"/>
              <a:t>Loss Function: Categorical Cross-Entropy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800" dirty="0"/>
              <a:t>Batch Size &amp; Epochs tuned for stability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800" dirty="0"/>
              <a:t>Early stopping applied to prevent overfitting</a:t>
            </a:r>
          </a:p>
          <a:p>
            <a:r>
              <a:rPr lang="en-US" sz="1800" b="1" dirty="0"/>
              <a:t>Evaluation Metrics:</a:t>
            </a:r>
            <a:br>
              <a:rPr lang="en-US" sz="1800" dirty="0"/>
            </a:br>
            <a:r>
              <a:rPr lang="en-US" sz="1800" dirty="0"/>
              <a:t>Accuracy, Precision, Recall, F1-score used to assess model’s predictive capability.</a:t>
            </a:r>
          </a:p>
          <a:p>
            <a:r>
              <a:rPr lang="en-US" sz="1800" b="1" dirty="0"/>
              <a:t>Outcome:</a:t>
            </a:r>
            <a:br>
              <a:rPr lang="en-US" sz="1800" dirty="0"/>
            </a:br>
            <a:r>
              <a:rPr lang="en-US" sz="1800" dirty="0"/>
              <a:t>Hybrid model achieved high accuracy(~99.6%) and strong class separation, outperforming baseline ML models.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SHAP explainability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Perturbation-based analysis shows which </a:t>
            </a:r>
            <a:r>
              <a:rPr lang="en-US" dirty="0" err="1"/>
              <a:t>MiniLM</a:t>
            </a:r>
            <a:r>
              <a:rPr lang="en-US" dirty="0"/>
              <a:t> embedding dimensions influence congestion prediction the most.</a:t>
            </a:r>
          </a:p>
          <a:p>
            <a:pPr>
              <a:lnSpc>
                <a:spcPct val="100000"/>
              </a:lnSpc>
            </a:pPr>
            <a:r>
              <a:rPr lang="en-US" dirty="0"/>
              <a:t>Words related to </a:t>
            </a:r>
            <a:r>
              <a:rPr lang="en-US" i="1" dirty="0"/>
              <a:t>accidents, crashes, blockage, jam, delay,</a:t>
            </a:r>
            <a:r>
              <a:rPr lang="en-US" dirty="0"/>
              <a:t> and </a:t>
            </a:r>
            <a:r>
              <a:rPr lang="en-US" i="1" dirty="0"/>
              <a:t>slow movement</a:t>
            </a:r>
            <a:r>
              <a:rPr lang="en-US" dirty="0"/>
              <a:t> strongly shift predictions toward higher congestion.</a:t>
            </a:r>
          </a:p>
          <a:p>
            <a:pPr>
              <a:lnSpc>
                <a:spcPct val="100000"/>
              </a:lnSpc>
            </a:pPr>
            <a:r>
              <a:rPr lang="en-US" dirty="0"/>
              <a:t>Time-based features (hour, day, weekday) and sentiment polarity add contextual cues to refine classification.</a:t>
            </a:r>
          </a:p>
          <a:p>
            <a:pPr>
              <a:lnSpc>
                <a:spcPct val="100000"/>
              </a:lnSpc>
            </a:pPr>
            <a:r>
              <a:rPr lang="en-US" dirty="0"/>
              <a:t>Helps explain </a:t>
            </a:r>
            <a:r>
              <a:rPr lang="en-US" i="1" dirty="0"/>
              <a:t>why</a:t>
            </a:r>
            <a:r>
              <a:rPr lang="en-US" dirty="0"/>
              <a:t> the LSTM model predicted Low, Medium, or High congestion for a given tweet.</a:t>
            </a:r>
          </a:p>
          <a:p>
            <a:pPr>
              <a:lnSpc>
                <a:spcPct val="100000"/>
              </a:lnSpc>
            </a:pPr>
            <a:r>
              <a:rPr lang="en-US" dirty="0"/>
              <a:t>Enhances trust and interpretability for stakeholders like traffic authorities and reviewers.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ED9CC-354F-F6D1-F32C-7BA231C1E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5AD24-DD28-88A7-8102-67100E640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GUI Overview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F5DC2-6F63-E05F-8ABC-66894977D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828800"/>
            <a:ext cx="7955280" cy="476707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2100" dirty="0"/>
              <a:t>Built using </a:t>
            </a:r>
            <a:r>
              <a:rPr lang="en-US" sz="2100" dirty="0" err="1"/>
              <a:t>Streamlit</a:t>
            </a:r>
            <a:r>
              <a:rPr lang="en-US" sz="2100" dirty="0"/>
              <a:t>, provides a clean, interactive web-based interface for real-time testing and demonstration.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Allows users to input any tweet describing traffic conditions and instantly view:</a:t>
            </a:r>
          </a:p>
          <a:p>
            <a:pPr marL="514350" indent="-514350">
              <a:lnSpc>
                <a:spcPct val="120000"/>
              </a:lnSpc>
              <a:buFont typeface="+mj-lt"/>
              <a:buAutoNum type="romanLcPeriod"/>
            </a:pPr>
            <a:r>
              <a:rPr lang="en-US" sz="2100" dirty="0"/>
              <a:t>Predicted congestion level</a:t>
            </a:r>
          </a:p>
          <a:p>
            <a:pPr marL="514350" indent="-514350">
              <a:lnSpc>
                <a:spcPct val="120000"/>
              </a:lnSpc>
              <a:buFont typeface="+mj-lt"/>
              <a:buAutoNum type="romanLcPeriod"/>
            </a:pPr>
            <a:r>
              <a:rPr lang="en-US" sz="2100" dirty="0"/>
              <a:t>Probability distribution</a:t>
            </a:r>
          </a:p>
          <a:p>
            <a:pPr marL="514350" indent="-514350">
              <a:lnSpc>
                <a:spcPct val="120000"/>
              </a:lnSpc>
              <a:buFont typeface="+mj-lt"/>
              <a:buAutoNum type="romanLcPeriod"/>
            </a:pPr>
            <a:r>
              <a:rPr lang="en-US" sz="2100" dirty="0"/>
              <a:t>Estimated delay in minutes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Processes multiple tweets at once, generates predictions, and offers download-ready output files.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Includes bar charts for prediction confidence and optional traffic density maps if coordinates exist.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Runs independently of the training pipeline, functioning solely for inference and demo purposes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8467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367C5-B88B-30F2-3D1A-2718F439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CBE81-B209-2BD9-6149-0F94A9E8C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Results summary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DCE41-A45E-1B63-9546-15D97FEA7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962912"/>
            <a:ext cx="7955280" cy="4767072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The hybrid LLM + LSTM model achieved </a:t>
            </a:r>
            <a:r>
              <a:rPr lang="en-US" b="1" dirty="0"/>
              <a:t>~99% accuracy</a:t>
            </a:r>
            <a:r>
              <a:rPr lang="en-US" dirty="0"/>
              <a:t> on real-world traffic tweet data.</a:t>
            </a:r>
          </a:p>
          <a:p>
            <a:pPr>
              <a:lnSpc>
                <a:spcPct val="120000"/>
              </a:lnSpc>
            </a:pPr>
            <a:r>
              <a:rPr lang="en-US" dirty="0"/>
              <a:t>Successfully distinguishes between </a:t>
            </a:r>
            <a:r>
              <a:rPr lang="en-US" b="1" dirty="0"/>
              <a:t>Low, Medium, and High</a:t>
            </a:r>
            <a:r>
              <a:rPr lang="en-US" dirty="0"/>
              <a:t> congestion levels with strong probability confidence.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MiniLM</a:t>
            </a:r>
            <a:r>
              <a:rPr lang="en-US" dirty="0"/>
              <a:t> embeddings produced well-separated clusters using </a:t>
            </a:r>
            <a:r>
              <a:rPr lang="en-US" b="1" dirty="0"/>
              <a:t>HDBSCAN</a:t>
            </a:r>
            <a:r>
              <a:rPr lang="en-US" dirty="0"/>
              <a:t> and </a:t>
            </a:r>
            <a:r>
              <a:rPr lang="en-US" b="1" dirty="0"/>
              <a:t>K-Means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Explainability methods highlighted key semantic drivers (accident, jam, blocked) that influence model predictions.</a:t>
            </a:r>
          </a:p>
          <a:p>
            <a:pPr>
              <a:lnSpc>
                <a:spcPct val="120000"/>
              </a:lnSpc>
            </a:pPr>
            <a:r>
              <a:rPr lang="en-US" dirty="0"/>
              <a:t>GUI tests confirmed consistent, stable predictions for both single and batch tweet inputs.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8065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681D5-5296-84D7-8702-02680AAF2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7C2D-5FE4-E5C9-6A4A-8139421EB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limitations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9CB3F-4C79-7CC2-6F92-2EF1AC8B1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962912"/>
            <a:ext cx="7955280" cy="476707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Training relied on ~6000–6500 tweets, which may not fully capture all traffic scenarios or rare events.</a:t>
            </a:r>
          </a:p>
          <a:p>
            <a:pPr>
              <a:lnSpc>
                <a:spcPct val="120000"/>
              </a:lnSpc>
            </a:pPr>
            <a:r>
              <a:rPr lang="en-US" dirty="0"/>
              <a:t>Some features (like coordinates and engagement metrics) were approximated during testing, not directly obtained from real data.</a:t>
            </a:r>
          </a:p>
          <a:p>
            <a:pPr>
              <a:lnSpc>
                <a:spcPct val="120000"/>
              </a:lnSpc>
            </a:pPr>
            <a:r>
              <a:rPr lang="en-US" dirty="0"/>
              <a:t>Model evaluated mostly on Vellore-related tweets; performance may vary for other cities with different traffic patterns.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MiniLM</a:t>
            </a:r>
            <a:r>
              <a:rPr lang="en-US" dirty="0"/>
              <a:t> embeddings capture semantics well but may miss deeper contextual nuances compared to larger transformer models.</a:t>
            </a:r>
          </a:p>
          <a:p>
            <a:pPr>
              <a:lnSpc>
                <a:spcPct val="120000"/>
              </a:lnSpc>
            </a:pPr>
            <a:r>
              <a:rPr lang="en-US" dirty="0"/>
              <a:t>Sudden, high-impact traffic events might require more frequent retraining or additional real-time data sources.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3014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1F064-5EEE-D137-88BF-65E23A642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9FCE-E825-18EE-A292-BF216B1F6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Future enhancements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BDF7C-4E57-052F-006C-CB383C5C9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938528"/>
            <a:ext cx="7955280" cy="4767072"/>
          </a:xfrm>
        </p:spPr>
        <p:txBody>
          <a:bodyPr numCol="2"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sz="1800" b="1" dirty="0"/>
              <a:t>Integration with Live Traffic APIs:</a:t>
            </a:r>
            <a:br>
              <a:rPr lang="en-US" sz="1800" dirty="0"/>
            </a:br>
            <a:r>
              <a:rPr lang="en-US" sz="1800" dirty="0"/>
              <a:t>Connect to real-time traffic feeds (Google Maps, TomTom, </a:t>
            </a:r>
            <a:r>
              <a:rPr lang="en-US" sz="1800" dirty="0" err="1"/>
              <a:t>OpenTraffic</a:t>
            </a:r>
            <a:r>
              <a:rPr lang="en-US" sz="1800" dirty="0"/>
              <a:t>) for continuous, dynamic updates.</a:t>
            </a:r>
          </a:p>
          <a:p>
            <a:pPr>
              <a:lnSpc>
                <a:spcPct val="120000"/>
              </a:lnSpc>
            </a:pPr>
            <a:r>
              <a:rPr lang="en-IN" sz="1800" b="1" dirty="0"/>
              <a:t>Use of Larger LLM Models:</a:t>
            </a:r>
            <a:br>
              <a:rPr lang="en-IN" sz="1800" dirty="0"/>
            </a:br>
            <a:r>
              <a:rPr lang="en-IN" sz="1800" dirty="0"/>
              <a:t>Upgrade from </a:t>
            </a:r>
            <a:r>
              <a:rPr lang="en-IN" sz="1800" dirty="0" err="1"/>
              <a:t>MiniLM</a:t>
            </a:r>
            <a:r>
              <a:rPr lang="en-IN" sz="1800" dirty="0"/>
              <a:t> to more powerful embeddings (e.g., BERT-base, </a:t>
            </a:r>
            <a:r>
              <a:rPr lang="en-IN" sz="1800" dirty="0" err="1"/>
              <a:t>RoBERTa</a:t>
            </a:r>
            <a:r>
              <a:rPr lang="en-IN" sz="1800" dirty="0"/>
              <a:t>, </a:t>
            </a:r>
            <a:r>
              <a:rPr lang="en-IN" sz="1800" dirty="0" err="1"/>
              <a:t>LLaMA</a:t>
            </a:r>
            <a:r>
              <a:rPr lang="en-IN" sz="1800" dirty="0"/>
              <a:t>-based encoders) for deeper semantic understanding.</a:t>
            </a:r>
          </a:p>
          <a:p>
            <a:pPr>
              <a:lnSpc>
                <a:spcPct val="120000"/>
              </a:lnSpc>
            </a:pPr>
            <a:r>
              <a:rPr lang="en-US" sz="1800" b="1" dirty="0"/>
              <a:t>Geotag Extraction from Raw Tweets:</a:t>
            </a:r>
            <a:br>
              <a:rPr lang="en-US" sz="1800" dirty="0"/>
            </a:br>
            <a:r>
              <a:rPr lang="en-US" sz="1800" dirty="0"/>
              <a:t>Incorporate NLP-based location extraction for more accurate traffic mapping.</a:t>
            </a:r>
          </a:p>
          <a:p>
            <a:pPr>
              <a:lnSpc>
                <a:spcPct val="120000"/>
              </a:lnSpc>
            </a:pPr>
            <a:r>
              <a:rPr lang="en-US" sz="1800" b="1" dirty="0"/>
              <a:t>Multimodal Data Fusion:</a:t>
            </a:r>
            <a:br>
              <a:rPr lang="en-US" sz="1800" dirty="0"/>
            </a:br>
            <a:r>
              <a:rPr lang="en-US" sz="1800" dirty="0"/>
              <a:t>Combine text with images, GPS streams, or CCTV feeds for richer congestion prediction.</a:t>
            </a:r>
          </a:p>
          <a:p>
            <a:pPr>
              <a:lnSpc>
                <a:spcPct val="120000"/>
              </a:lnSpc>
            </a:pPr>
            <a:r>
              <a:rPr lang="en-US" sz="1800" b="1" dirty="0"/>
              <a:t>Deployable Cloud API:</a:t>
            </a:r>
            <a:br>
              <a:rPr lang="en-US" sz="1800" dirty="0"/>
            </a:br>
            <a:r>
              <a:rPr lang="en-US" sz="1800" dirty="0"/>
              <a:t>Convert the model into a scalable REST API using </a:t>
            </a:r>
            <a:r>
              <a:rPr lang="en-US" sz="1800" dirty="0" err="1"/>
              <a:t>FastAPI</a:t>
            </a:r>
            <a:r>
              <a:rPr lang="en-US" sz="1800" dirty="0"/>
              <a:t> or Flask for production-level traffic monitoring systems.</a:t>
            </a:r>
          </a:p>
          <a:p>
            <a:pPr>
              <a:lnSpc>
                <a:spcPct val="120000"/>
              </a:lnSpc>
            </a:pPr>
            <a:r>
              <a:rPr lang="en-US" sz="1800" b="1" dirty="0"/>
              <a:t>Interactive Analytics Dashboard:</a:t>
            </a:r>
            <a:br>
              <a:rPr lang="en-US" sz="1800" dirty="0"/>
            </a:br>
            <a:r>
              <a:rPr lang="en-US" sz="1800" dirty="0"/>
              <a:t>Expand </a:t>
            </a:r>
            <a:r>
              <a:rPr lang="en-US" sz="1800" dirty="0" err="1"/>
              <a:t>Streamlit</a:t>
            </a:r>
            <a:r>
              <a:rPr lang="en-US" sz="1800" dirty="0"/>
              <a:t> UI into a full-featured dashboard with charts, timelines, and heatmaps.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581864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6FC6-9825-9824-C163-2D0760377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05377-1F4B-8740-2E46-837AB6EE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conclusion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96588-5AF6-AEA2-F1E2-AB91AB46F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914144"/>
            <a:ext cx="7955280" cy="476707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This project successfully demonstrates a hybrid approach combining </a:t>
            </a:r>
            <a:r>
              <a:rPr lang="en-US" b="1" dirty="0"/>
              <a:t>LLM-based embeddings</a:t>
            </a:r>
            <a:r>
              <a:rPr lang="en-US" dirty="0"/>
              <a:t> with </a:t>
            </a:r>
            <a:r>
              <a:rPr lang="en-US" b="1" dirty="0"/>
              <a:t>LSTM modeling</a:t>
            </a:r>
            <a:r>
              <a:rPr lang="en-US" dirty="0"/>
              <a:t> to predict traffic congestion from social media data.</a:t>
            </a:r>
          </a:p>
          <a:p>
            <a:pPr>
              <a:lnSpc>
                <a:spcPct val="120000"/>
              </a:lnSpc>
            </a:pPr>
            <a:r>
              <a:rPr lang="en-US" dirty="0"/>
              <a:t>The system effectively interprets real-world tweets, processes semantic and contextual features, and delivers accurate congestion classifications.</a:t>
            </a:r>
          </a:p>
          <a:p>
            <a:pPr>
              <a:lnSpc>
                <a:spcPct val="120000"/>
              </a:lnSpc>
            </a:pPr>
            <a:r>
              <a:rPr lang="en-US" dirty="0"/>
              <a:t>Clustering and visualization techniques validated the embedding quality, while the </a:t>
            </a:r>
            <a:r>
              <a:rPr lang="en-US" dirty="0" err="1"/>
              <a:t>Streamlit</a:t>
            </a:r>
            <a:r>
              <a:rPr lang="en-US" dirty="0"/>
              <a:t> dashboard enabled intuitive, user-friendly interaction.</a:t>
            </a:r>
          </a:p>
          <a:p>
            <a:pPr>
              <a:lnSpc>
                <a:spcPct val="120000"/>
              </a:lnSpc>
            </a:pPr>
            <a:r>
              <a:rPr lang="en-US" dirty="0"/>
              <a:t>Overall, the system provides a scalable foundation for intelligent traffic monitoring and can be extended into a fully operational smart city solution with real-time data integration and enhanced analytics.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138980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250</TotalTime>
  <Words>1818</Words>
  <Application>Microsoft Office PowerPoint</Application>
  <PresentationFormat>On-screen Show (4:3)</PresentationFormat>
  <Paragraphs>162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Century Gothic</vt:lpstr>
      <vt:lpstr>Vapor Trail</vt:lpstr>
      <vt:lpstr>LLM-Based Predictive Modeling for Traffic Flow Optimization Using Real-Time Social Media Data</vt:lpstr>
      <vt:lpstr>Project overview</vt:lpstr>
      <vt:lpstr>Problem statement</vt:lpstr>
      <vt:lpstr>Objectives</vt:lpstr>
      <vt:lpstr>Motivation</vt:lpstr>
      <vt:lpstr>Related works</vt:lpstr>
      <vt:lpstr>Proposed system overview</vt:lpstr>
      <vt:lpstr>System architecture</vt:lpstr>
      <vt:lpstr>Use-case diagram</vt:lpstr>
      <vt:lpstr>Uml class diagram</vt:lpstr>
      <vt:lpstr>Dataset description</vt:lpstr>
      <vt:lpstr>Dataset preprocessing</vt:lpstr>
      <vt:lpstr>Embedding generation</vt:lpstr>
      <vt:lpstr>Clustering(hdbscan &amp; Kmeans)</vt:lpstr>
      <vt:lpstr>Clustering visualizations</vt:lpstr>
      <vt:lpstr>PowerPoint Presentation</vt:lpstr>
      <vt:lpstr>PowerPoint Presentation</vt:lpstr>
      <vt:lpstr>PowerPoint Presentation</vt:lpstr>
      <vt:lpstr>Model training &amp; evaluation step</vt:lpstr>
      <vt:lpstr>SHAP explainability</vt:lpstr>
      <vt:lpstr>GUI Overview</vt:lpstr>
      <vt:lpstr>Results summary</vt:lpstr>
      <vt:lpstr>limitations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Saswata Howlader</dc:creator>
  <cp:keywords/>
  <dc:description>generated using python-pptx</dc:description>
  <cp:lastModifiedBy>Priom Dutta</cp:lastModifiedBy>
  <cp:revision>55</cp:revision>
  <dcterms:created xsi:type="dcterms:W3CDTF">2013-01-27T09:14:16Z</dcterms:created>
  <dcterms:modified xsi:type="dcterms:W3CDTF">2025-11-20T07:56:28Z</dcterms:modified>
  <cp:category/>
</cp:coreProperties>
</file>